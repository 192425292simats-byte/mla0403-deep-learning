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71" r:id="rId8"/>
    <p:sldId id="270" r:id="rId9"/>
    <p:sldId id="263" r:id="rId10"/>
    <p:sldId id="262" r:id="rId11"/>
    <p:sldId id="261" r:id="rId12"/>
    <p:sldId id="266" r:id="rId13"/>
    <p:sldId id="267" r:id="rId14"/>
    <p:sldId id="268" r:id="rId15"/>
    <p:sldId id="264" r:id="rId16"/>
    <p:sldId id="269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1B24-A25F-8E92-E21C-7F7A7C329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41B13-CF71-8470-B1F3-32BD0E593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DF485-8C86-EE12-63A4-260D84E08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DB952-4BC9-EEC7-36CD-3AC8D747C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68E4F-D2A6-29EC-282D-B13B3E56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00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8A7E-675C-519C-3FA8-D4AAD5FD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840CB-EE97-171A-0D21-387F42F13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88AF5-0C51-B565-C874-4065A1765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59249-1370-4C3C-BE05-01798D4DE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E9CF-764B-8642-05CE-743EC904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29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3ACD3-6795-5387-73DF-4E965B93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EBFFB-FBC1-8790-B62D-52BEDB52C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B72AB-37F8-E917-CAF1-9D28A3F0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D7EF5-AE5A-46C7-36C6-533EAD55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0564C-273F-054B-CA23-9CEC79BB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80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C656-885C-BD7D-FEAC-222729A1F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59DBA-A3B1-8169-7E05-7832297A3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1EFD9-8637-0ABD-6AA3-B8625205B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934A3-B947-8739-BC80-5651D5E2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2599A-6E44-F65E-2FCE-7278CC88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AE5F6-6F0C-A723-3B49-C38A806F4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26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961E-A337-36E6-59BF-42EEF8BAA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DE110-AA49-F359-615B-F7A0B36E2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9ED21-7D00-0DB5-43BB-60946C839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1595C-3EC3-D517-762F-6BF11C7E0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288DE-4CBE-9390-2905-6557AD0B6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CCC8E-E098-C7B2-0CFE-05379BD0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375E6-E150-0CEE-9E40-D782AF065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E7CDF-5B55-FD45-B7DE-028EDCA0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27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B71D-F8F8-244C-1DC6-209B767BF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B4A37-96C3-1F1C-282B-9D64D93C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1F921-4490-75FC-C30D-611A6B4B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02777-098C-7A6D-71BD-B8F240332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42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49B10-73FB-5FDE-EBCC-E58ABBA2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60FA9-72EB-441D-BC52-B2003E7AA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68656-B403-2DDA-CC69-EBBA10F9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41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E6CC0-5285-F033-A598-62826F024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E5F0B-828B-1EE5-AE8D-5C9B5F481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D2444-3F66-E173-E5B6-9D82745EA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230F7-F080-CB17-807E-E02EEACC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2FF41-136D-27F6-A75B-29BACF026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22970-00EB-344B-AC21-AD8E5F54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89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784A-119A-1710-2EBB-96C6F23CB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432C03-44F1-4EC4-50D4-63F902C44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34848-EE55-2DC5-5AA6-E41616EB9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61EBE-3DEE-8E1E-F663-CCCEDB97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EFF71-269F-6958-9A74-5862FA57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8A9C1-8587-07E7-0853-27584717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04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4F2D-F6E0-6AA7-BC6E-450383F8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D8A38-C12A-0AC3-D902-EAB2018B2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F4DFA-B613-F671-2EF5-F80577934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91828-45C5-1DB9-AD12-1F7FB47F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84670-39BC-7A82-4E97-EFF4D6282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442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60A55D-73F4-1111-F77A-CDBBE710F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421EE-13B3-2003-A27C-6C5B13A9A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11C93-5502-8E24-1F58-42AA0B90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245F0-6BF1-FBE0-8BB0-C596210E7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2803-7F9A-5EFF-6A07-EE4353C1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269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DC447-E5B6-2FF7-6227-DC08BF193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BC367-C08B-FF96-E44B-AD9952274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34000-1259-1FD9-EB3E-623D8C1E1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C1387-59ED-432B-AC14-68AD2BE5368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A6EFC-5164-FE77-4BF5-37B2573B8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B8658-114F-20B1-1403-8704DC585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97FDB-7670-4673-A5C5-1EE84931D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77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2744E2-EFA5-C2D4-2DBC-109B213511B8}"/>
              </a:ext>
            </a:extLst>
          </p:cNvPr>
          <p:cNvSpPr txBox="1"/>
          <p:nvPr/>
        </p:nvSpPr>
        <p:spPr>
          <a:xfrm>
            <a:off x="931333" y="2311403"/>
            <a:ext cx="101430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Based – Reinforcement Learning Adaptive Cybersecurity Defense System using MTCNN in Deep Learning </a:t>
            </a:r>
            <a:endParaRPr lang="en-IN" sz="2000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09415-E54B-0635-6625-A228B8C9B5DD}"/>
              </a:ext>
            </a:extLst>
          </p:cNvPr>
          <p:cNvSpPr txBox="1"/>
          <p:nvPr/>
        </p:nvSpPr>
        <p:spPr>
          <a:xfrm>
            <a:off x="6548284" y="4188934"/>
            <a:ext cx="519307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SaiRam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192425291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Narasimha Reddy – 192425281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Sunil Kumar – 192425292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SIMATS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1A948-F67D-E056-442C-0596990A5793}"/>
              </a:ext>
            </a:extLst>
          </p:cNvPr>
          <p:cNvSpPr txBox="1"/>
          <p:nvPr/>
        </p:nvSpPr>
        <p:spPr>
          <a:xfrm>
            <a:off x="596763" y="4188934"/>
            <a:ext cx="36802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Dr.A.M.Arul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SIMATS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SSE-Computer Science and Engineering">
            <a:extLst>
              <a:ext uri="{FF2B5EF4-FFF2-40B4-BE49-F238E27FC236}">
                <a16:creationId xmlns:a16="http://schemas.microsoft.com/office/drawing/2014/main" id="{E43272F9-6C17-36D5-4335-4ABBB4106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42335"/>
            <a:ext cx="11895667" cy="90365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FF4EA53-9B57-8478-3AD6-BBA67F8EF610}"/>
              </a:ext>
            </a:extLst>
          </p:cNvPr>
          <p:cNvSpPr txBox="1"/>
          <p:nvPr/>
        </p:nvSpPr>
        <p:spPr>
          <a:xfrm>
            <a:off x="3513667" y="1286936"/>
            <a:ext cx="505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MLA0403 – Deep Learning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24234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29DB8C50-BEF2-E99E-2883-8D8E34B7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5C9E0D-36D6-6495-D830-E7219CDE7133}"/>
              </a:ext>
            </a:extLst>
          </p:cNvPr>
          <p:cNvSpPr txBox="1"/>
          <p:nvPr/>
        </p:nvSpPr>
        <p:spPr>
          <a:xfrm>
            <a:off x="516463" y="2159001"/>
            <a:ext cx="11489267" cy="307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 intelligent cybersecurity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using deep learning.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reinforcement learning to adapt to evolving cyber threats.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MTCNN for efficient feature extraction and pattern detection.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learns from network activities and attack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cyberattacks with improved accuracy and speed.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4E73F-25B2-CE4B-2B62-02E3F7D297E7}"/>
              </a:ext>
            </a:extLst>
          </p:cNvPr>
          <p:cNvSpPr txBox="1"/>
          <p:nvPr/>
        </p:nvSpPr>
        <p:spPr>
          <a:xfrm>
            <a:off x="2734733" y="1176867"/>
            <a:ext cx="596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 </a:t>
            </a:r>
            <a:endParaRPr lang="en-IN" sz="2800" b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121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4D4E0263-786C-7619-0825-630205CCE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04A8D8-D697-AF39-290D-A5E5A5B0E974}"/>
              </a:ext>
            </a:extLst>
          </p:cNvPr>
          <p:cNvSpPr txBox="1"/>
          <p:nvPr/>
        </p:nvSpPr>
        <p:spPr>
          <a:xfrm>
            <a:off x="4495801" y="1100663"/>
            <a:ext cx="3386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 </a:t>
            </a:r>
            <a:endParaRPr lang="en-IN" sz="2800" b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B083D-753E-4993-8C33-CE1ACEEEB079}"/>
              </a:ext>
            </a:extLst>
          </p:cNvPr>
          <p:cNvSpPr txBox="1"/>
          <p:nvPr/>
        </p:nvSpPr>
        <p:spPr>
          <a:xfrm>
            <a:off x="254000" y="1875763"/>
            <a:ext cx="11684000" cy="5277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adaptive cybersecurity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prevent cyber threats in real time.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reinforcement learning for continuous system improvement.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network security using deep learning and MTCNN.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cyberattacks with high accuracy.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and adapt to new threats automatically.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false positives and false negatives.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real-time response and overall network security.</a:t>
            </a:r>
          </a:p>
          <a:p>
            <a:pPr algn="just"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54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F6365A53-4BCB-AB2D-3296-5235BFB5B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C8257C-FE2E-6927-6F5C-6D7CE3315626}"/>
              </a:ext>
            </a:extLst>
          </p:cNvPr>
          <p:cNvSpPr txBox="1"/>
          <p:nvPr/>
        </p:nvSpPr>
        <p:spPr>
          <a:xfrm>
            <a:off x="427566" y="2067430"/>
            <a:ext cx="11303000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is essential to protect digital systems from increasing cyber threats.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methods are often ineffective against new and evolving attacks.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enables intelligent detection of complex attack patterns.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helps the system learn and adapt from previous experiences.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MTCNN is used for efficient feature extraction and improved threat identification.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an adaptive, accurate, and real-time cybersecurity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7D52D-5445-4D50-8747-A8ACAF78C0FA}"/>
              </a:ext>
            </a:extLst>
          </p:cNvPr>
          <p:cNvSpPr txBox="1"/>
          <p:nvPr/>
        </p:nvSpPr>
        <p:spPr>
          <a:xfrm>
            <a:off x="2971800" y="1295400"/>
            <a:ext cx="5452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05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639EAFFB-603A-4399-5082-4E0D7CA6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7CB491-D5ED-ECC5-902C-E57108DD29EC}"/>
              </a:ext>
            </a:extLst>
          </p:cNvPr>
          <p:cNvSpPr txBox="1"/>
          <p:nvPr/>
        </p:nvSpPr>
        <p:spPr>
          <a:xfrm>
            <a:off x="2981632" y="924607"/>
            <a:ext cx="5452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43F9E6-BD4B-7E74-A738-E0087CFBC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07388"/>
              </p:ext>
            </p:extLst>
          </p:nvPr>
        </p:nvGraphicFramePr>
        <p:xfrm>
          <a:off x="344129" y="1467282"/>
          <a:ext cx="11297265" cy="5390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895">
                  <a:extLst>
                    <a:ext uri="{9D8B030D-6E8A-4147-A177-3AD203B41FA5}">
                      <a16:colId xmlns:a16="http://schemas.microsoft.com/office/drawing/2014/main" val="2256921592"/>
                    </a:ext>
                  </a:extLst>
                </a:gridCol>
                <a:gridCol w="1613895">
                  <a:extLst>
                    <a:ext uri="{9D8B030D-6E8A-4147-A177-3AD203B41FA5}">
                      <a16:colId xmlns:a16="http://schemas.microsoft.com/office/drawing/2014/main" val="449466081"/>
                    </a:ext>
                  </a:extLst>
                </a:gridCol>
                <a:gridCol w="1613895">
                  <a:extLst>
                    <a:ext uri="{9D8B030D-6E8A-4147-A177-3AD203B41FA5}">
                      <a16:colId xmlns:a16="http://schemas.microsoft.com/office/drawing/2014/main" val="1923820653"/>
                    </a:ext>
                  </a:extLst>
                </a:gridCol>
                <a:gridCol w="1613895">
                  <a:extLst>
                    <a:ext uri="{9D8B030D-6E8A-4147-A177-3AD203B41FA5}">
                      <a16:colId xmlns:a16="http://schemas.microsoft.com/office/drawing/2014/main" val="2471049724"/>
                    </a:ext>
                  </a:extLst>
                </a:gridCol>
                <a:gridCol w="1613895">
                  <a:extLst>
                    <a:ext uri="{9D8B030D-6E8A-4147-A177-3AD203B41FA5}">
                      <a16:colId xmlns:a16="http://schemas.microsoft.com/office/drawing/2014/main" val="2797592816"/>
                    </a:ext>
                  </a:extLst>
                </a:gridCol>
                <a:gridCol w="1613895">
                  <a:extLst>
                    <a:ext uri="{9D8B030D-6E8A-4147-A177-3AD203B41FA5}">
                      <a16:colId xmlns:a16="http://schemas.microsoft.com/office/drawing/2014/main" val="3029274210"/>
                    </a:ext>
                  </a:extLst>
                </a:gridCol>
                <a:gridCol w="1613895">
                  <a:extLst>
                    <a:ext uri="{9D8B030D-6E8A-4147-A177-3AD203B41FA5}">
                      <a16:colId xmlns:a16="http://schemas.microsoft.com/office/drawing/2014/main" val="499862290"/>
                    </a:ext>
                  </a:extLst>
                </a:gridCol>
              </a:tblGrid>
              <a:tr h="818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 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0375771"/>
                  </a:ext>
                </a:extLst>
              </a:tr>
              <a:tr h="818718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Merzouk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DRL-Based Intrusion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DRL-IDS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 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Adaptive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629062"/>
                  </a:ext>
                </a:extLst>
              </a:tr>
              <a:tr h="818718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DRL Network Intrusion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DRL-NIDS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DQN, Actor-Critic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Unknown Attack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139620"/>
                  </a:ext>
                </a:extLst>
              </a:tr>
              <a:tr h="818718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Xu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Deep Learning-Based 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CNN, RNN,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Improved Attack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067890"/>
                  </a:ext>
                </a:extLst>
              </a:tr>
              <a:tr h="818718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Landolt et al.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Multi-Agent RL in Cybersecurity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MARL Defense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Multi-Agent 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Adaptive Cyber </a:t>
                      </a:r>
                      <a:r>
                        <a:rPr lang="en-IN" dirty="0" err="1"/>
                        <a:t>Defense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044556"/>
                  </a:ext>
                </a:extLst>
              </a:tr>
              <a:tr h="818718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Odeh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RL-Based IoT Intrusion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Autonomous 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Reinforcement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Adaptive </a:t>
                      </a:r>
                      <a:r>
                        <a:rPr lang="en-IN" dirty="0" err="1"/>
                        <a:t>Defense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251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740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37425EEB-08D7-E06E-4C76-9E6D6302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54D7A0-60FC-0377-FC8D-DABBE72B1C20}"/>
              </a:ext>
            </a:extLst>
          </p:cNvPr>
          <p:cNvSpPr txBox="1"/>
          <p:nvPr/>
        </p:nvSpPr>
        <p:spPr>
          <a:xfrm>
            <a:off x="3513667" y="1168400"/>
            <a:ext cx="4936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5F91DC-E97A-AFF9-F8CB-F0F45EB64FCB}"/>
              </a:ext>
            </a:extLst>
          </p:cNvPr>
          <p:cNvSpPr txBox="1"/>
          <p:nvPr/>
        </p:nvSpPr>
        <p:spPr>
          <a:xfrm>
            <a:off x="347132" y="2011237"/>
            <a:ext cx="11463867" cy="354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cybersecurity systems cannot effectively detect evolving cyber threats.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alarm rates reduce the efficiency of security monitoring.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mechanisms fail to adapt to new attack patterns.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intelligent, real-time, adaptive cybersecurity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using deep learning and reinforcement learning.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45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36871C-E54A-D4CE-8EAE-32D43FD0C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1CB470-45F1-E59F-EF6B-BD6691E75E2A}"/>
              </a:ext>
            </a:extLst>
          </p:cNvPr>
          <p:cNvSpPr txBox="1"/>
          <p:nvPr/>
        </p:nvSpPr>
        <p:spPr>
          <a:xfrm>
            <a:off x="3513667" y="1168400"/>
            <a:ext cx="4936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2800" b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3AD23E-EDC0-26A9-311A-C21E3AE7BE72}"/>
              </a:ext>
            </a:extLst>
          </p:cNvPr>
          <p:cNvSpPr txBox="1"/>
          <p:nvPr/>
        </p:nvSpPr>
        <p:spPr>
          <a:xfrm>
            <a:off x="707923" y="1897626"/>
            <a:ext cx="1051068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traditional and fixed security rules.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mainly known attack patterns.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difficulty adapting to new threats.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produce false alarms during monitoring.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frequent manual updates for changing attacks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73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62C928B5-BBA4-7CC9-1D57-4CFB13E95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1C9E7D-D514-FFB5-5693-BFF3B1F5AB7B}"/>
              </a:ext>
            </a:extLst>
          </p:cNvPr>
          <p:cNvSpPr txBox="1"/>
          <p:nvPr/>
        </p:nvSpPr>
        <p:spPr>
          <a:xfrm>
            <a:off x="3513667" y="1168400"/>
            <a:ext cx="4936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800" b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C069C-BF2F-EF9E-5374-374CA7988429}"/>
              </a:ext>
            </a:extLst>
          </p:cNvPr>
          <p:cNvSpPr txBox="1"/>
          <p:nvPr/>
        </p:nvSpPr>
        <p:spPr>
          <a:xfrm>
            <a:off x="1002890" y="1877961"/>
            <a:ext cx="1065816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deep learning for intelligent threat detection.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reinforcement learning for continuous adaptation.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MTCNN is used for feature extraction and pattern detection.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new attack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network activities.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improves security response and reduces false alarms.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139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5E57A0-B102-46E8-03D8-99E838C2F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31333"/>
            <a:ext cx="12259733" cy="5926667"/>
          </a:xfrm>
          <a:prstGeom prst="rect">
            <a:avLst/>
          </a:prstGeom>
        </p:spPr>
      </p:pic>
      <p:pic>
        <p:nvPicPr>
          <p:cNvPr id="7" name="Picture 6" descr="SSE-Computer Science and Engineering">
            <a:extLst>
              <a:ext uri="{FF2B5EF4-FFF2-40B4-BE49-F238E27FC236}">
                <a16:creationId xmlns:a16="http://schemas.microsoft.com/office/drawing/2014/main" id="{7AEA7160-C9A7-4573-D391-F9D988DC5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79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1C2EE73-077C-88C6-EE16-C5B4611D1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4F408C-58D1-65E5-B7D7-0EA22C2A6F6E}"/>
              </a:ext>
            </a:extLst>
          </p:cNvPr>
          <p:cNvSpPr txBox="1"/>
          <p:nvPr/>
        </p:nvSpPr>
        <p:spPr>
          <a:xfrm>
            <a:off x="354507" y="1733349"/>
            <a:ext cx="10828867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advanced AI-based cybersecurity technologies. 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secure digital infrastructure.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 – Peace, Justice and Strong Institutions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digital systems from cyber threats. 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trust, privacy, and data security. 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17 – Partnerships for the Goals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collaboration in cybersecurity research. 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knowledge sharing and innovation in AI security.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53C5FB-BE37-69B5-6BF9-893AEC1DBB8D}"/>
              </a:ext>
            </a:extLst>
          </p:cNvPr>
          <p:cNvSpPr txBox="1"/>
          <p:nvPr/>
        </p:nvSpPr>
        <p:spPr>
          <a:xfrm>
            <a:off x="2535766" y="1210129"/>
            <a:ext cx="712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SDG Goals (Sustainable Development Goals)</a:t>
            </a:r>
          </a:p>
        </p:txBody>
      </p:sp>
    </p:spTree>
    <p:extLst>
      <p:ext uri="{BB962C8B-B14F-4D97-AF65-F5344CB8AC3E}">
        <p14:creationId xmlns:p14="http://schemas.microsoft.com/office/powerpoint/2010/main" val="1642295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C9B2-EC6D-A238-0D1A-EF2AA329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7A5219-1B92-D799-3ADA-E7FF259FA913}"/>
              </a:ext>
            </a:extLst>
          </p:cNvPr>
          <p:cNvSpPr/>
          <p:nvPr/>
        </p:nvSpPr>
        <p:spPr>
          <a:xfrm>
            <a:off x="698494" y="2903272"/>
            <a:ext cx="2895599" cy="33323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D40D0320-735D-01E9-0CEA-7E35159EE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6B266B-F5B0-0DF3-4A1D-28DD73D8EA16}"/>
              </a:ext>
            </a:extLst>
          </p:cNvPr>
          <p:cNvSpPr txBox="1"/>
          <p:nvPr/>
        </p:nvSpPr>
        <p:spPr>
          <a:xfrm>
            <a:off x="698494" y="2864646"/>
            <a:ext cx="2988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4C6767-36AA-7190-A179-AA5C57EA6C86}"/>
              </a:ext>
            </a:extLst>
          </p:cNvPr>
          <p:cNvSpPr/>
          <p:nvPr/>
        </p:nvSpPr>
        <p:spPr>
          <a:xfrm>
            <a:off x="4758265" y="2664591"/>
            <a:ext cx="2895599" cy="60324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Module 2: Data Preprocessing &amp; Feature Extraction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B0078E-3D6C-3207-A278-45F8B9F07B05}"/>
              </a:ext>
            </a:extLst>
          </p:cNvPr>
          <p:cNvSpPr/>
          <p:nvPr/>
        </p:nvSpPr>
        <p:spPr>
          <a:xfrm>
            <a:off x="8509004" y="2664591"/>
            <a:ext cx="2895599" cy="53007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Module 3: Deep Learning &amp; Reinforcement Learning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BA9249-17F7-9A1F-7947-536B740779F6}"/>
              </a:ext>
            </a:extLst>
          </p:cNvPr>
          <p:cNvSpPr/>
          <p:nvPr/>
        </p:nvSpPr>
        <p:spPr>
          <a:xfrm>
            <a:off x="482600" y="3659376"/>
            <a:ext cx="3420524" cy="2006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Collect network traffic and security log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Gather normal and malicious activity datasets.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Store data for training and testing.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Validate dataset quality.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BD2D2FE-8B8E-2693-95A3-7246BE5BF3CB}"/>
              </a:ext>
            </a:extLst>
          </p:cNvPr>
          <p:cNvSpPr/>
          <p:nvPr/>
        </p:nvSpPr>
        <p:spPr>
          <a:xfrm>
            <a:off x="8509005" y="3617589"/>
            <a:ext cx="2895599" cy="2006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Train the deep learning model.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Implement reinforcement learning agent.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Learn attack patterns continuously.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Update security policies dynamically.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CB1DC52-9D6F-8121-B2A1-88F9A27BEAD1}"/>
              </a:ext>
            </a:extLst>
          </p:cNvPr>
          <p:cNvSpPr/>
          <p:nvPr/>
        </p:nvSpPr>
        <p:spPr>
          <a:xfrm>
            <a:off x="4758265" y="3633294"/>
            <a:ext cx="2895599" cy="2006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Remove missing and duplicate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Normalize and clean the dataset.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Use MTCNN for feature extraction.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Prepare data for model training.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128A0-5681-29D1-00D3-8B4B0A108B12}"/>
              </a:ext>
            </a:extLst>
          </p:cNvPr>
          <p:cNvSpPr txBox="1"/>
          <p:nvPr/>
        </p:nvSpPr>
        <p:spPr>
          <a:xfrm>
            <a:off x="3421625" y="1181848"/>
            <a:ext cx="9330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Module Planning</a:t>
            </a:r>
          </a:p>
        </p:txBody>
      </p:sp>
    </p:spTree>
    <p:extLst>
      <p:ext uri="{BB962C8B-B14F-4D97-AF65-F5344CB8AC3E}">
        <p14:creationId xmlns:p14="http://schemas.microsoft.com/office/powerpoint/2010/main" val="2461625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2E1D12D-EBA6-7DCE-54CE-BB94F214E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2F1A5D-BD74-87D8-D78D-9BB9CAFEE39B}"/>
              </a:ext>
            </a:extLst>
          </p:cNvPr>
          <p:cNvSpPr txBox="1"/>
          <p:nvPr/>
        </p:nvSpPr>
        <p:spPr>
          <a:xfrm>
            <a:off x="3952568" y="1278194"/>
            <a:ext cx="3460955" cy="56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E8D76A-B831-8CD3-C8D0-C4B695CF01E9}"/>
              </a:ext>
            </a:extLst>
          </p:cNvPr>
          <p:cNvSpPr txBox="1"/>
          <p:nvPr/>
        </p:nvSpPr>
        <p:spPr>
          <a:xfrm>
            <a:off x="3519948" y="1158303"/>
            <a:ext cx="4345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60B6FF-4831-DAD5-2B5D-0351E40D5EB5}"/>
              </a:ext>
            </a:extLst>
          </p:cNvPr>
          <p:cNvSpPr txBox="1"/>
          <p:nvPr/>
        </p:nvSpPr>
        <p:spPr>
          <a:xfrm>
            <a:off x="816077" y="1956619"/>
            <a:ext cx="1055984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network traffic and security logs containing normal and malicious activities.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organize the collected data for training and testing.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label different attack patterns and network activities.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completeness, reliability, and quality of the collected dataset.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 validated dataset for preprocessing and feature extraction. </a:t>
            </a:r>
          </a:p>
          <a:p>
            <a:pPr marL="342900" indent="-34290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854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9479EEFF-6C89-34A8-119D-24F94B642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D6595E-DBED-308D-D394-42DFEF8A9F99}"/>
              </a:ext>
            </a:extLst>
          </p:cNvPr>
          <p:cNvSpPr txBox="1"/>
          <p:nvPr/>
        </p:nvSpPr>
        <p:spPr>
          <a:xfrm>
            <a:off x="3952568" y="1278194"/>
            <a:ext cx="3460955" cy="56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EE2EB0-C518-1344-E0EF-C9424CE4E6E5}"/>
              </a:ext>
            </a:extLst>
          </p:cNvPr>
          <p:cNvSpPr txBox="1"/>
          <p:nvPr/>
        </p:nvSpPr>
        <p:spPr>
          <a:xfrm>
            <a:off x="1956619" y="1158303"/>
            <a:ext cx="9330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Data Preprocessing &amp; Feature Extraction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4697D2-6A31-CFD9-ABA3-A6C95C5ADB8F}"/>
              </a:ext>
            </a:extLst>
          </p:cNvPr>
          <p:cNvSpPr txBox="1"/>
          <p:nvPr/>
        </p:nvSpPr>
        <p:spPr>
          <a:xfrm>
            <a:off x="816077" y="1956619"/>
            <a:ext cx="10559846" cy="307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missing, duplicate, and irrelevant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dataset.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collected cybersecurity data.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 features from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and attack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MTCNN for feature extraction and pattern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extracted features as suitable input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97788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DFC2250D-1E04-FDA6-A87B-444305DCD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BD0EA4-3D78-BBEA-0483-C1D606C87371}"/>
              </a:ext>
            </a:extLst>
          </p:cNvPr>
          <p:cNvSpPr txBox="1"/>
          <p:nvPr/>
        </p:nvSpPr>
        <p:spPr>
          <a:xfrm>
            <a:off x="3952568" y="1278194"/>
            <a:ext cx="3460955" cy="56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3D8D9A-F492-2D99-7FD5-BED5F77E8C36}"/>
              </a:ext>
            </a:extLst>
          </p:cNvPr>
          <p:cNvSpPr txBox="1"/>
          <p:nvPr/>
        </p:nvSpPr>
        <p:spPr>
          <a:xfrm>
            <a:off x="1956619" y="1158303"/>
            <a:ext cx="861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Deep Learning &amp; Reinforcement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78D9CA-0AFA-7E74-6FBC-6E58F6256D5B}"/>
              </a:ext>
            </a:extLst>
          </p:cNvPr>
          <p:cNvSpPr txBox="1"/>
          <p:nvPr/>
        </p:nvSpPr>
        <p:spPr>
          <a:xfrm>
            <a:off x="816077" y="1956619"/>
            <a:ext cx="9842091" cy="307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prepared cybersecurity data.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adaptive security.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the system to learn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and malicious attack patterns continuously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learning experiences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 to new and evolving cyber threats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security policies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detection and response. </a:t>
            </a:r>
          </a:p>
        </p:txBody>
      </p:sp>
    </p:spTree>
    <p:extLst>
      <p:ext uri="{BB962C8B-B14F-4D97-AF65-F5344CB8AC3E}">
        <p14:creationId xmlns:p14="http://schemas.microsoft.com/office/powerpoint/2010/main" val="2461130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2AFCF4F-83EE-085A-CEC2-0609482D0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0E6BFE-9364-B81C-BE6E-F013261A9A00}"/>
              </a:ext>
            </a:extLst>
          </p:cNvPr>
          <p:cNvSpPr txBox="1"/>
          <p:nvPr/>
        </p:nvSpPr>
        <p:spPr>
          <a:xfrm>
            <a:off x="301796" y="2328334"/>
            <a:ext cx="1134533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intelligent cybersecurity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using deep learning and reinforcement learning.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MTCNN improves feature extraction for accurate threat detection.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adapts to new and evolving cyberattacks automatically.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detection, faster response, and improved network security.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false alarms and enhances overall cybersecurity performance.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scalable and reliable solution for modern cyber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332BFE-78E9-1606-EE68-5A3D0009423F}"/>
              </a:ext>
            </a:extLst>
          </p:cNvPr>
          <p:cNvSpPr txBox="1"/>
          <p:nvPr/>
        </p:nvSpPr>
        <p:spPr>
          <a:xfrm>
            <a:off x="2641600" y="1215420"/>
            <a:ext cx="5621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171669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1F61F33C-D2BD-37AE-38B9-CE720B9BF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52400"/>
            <a:ext cx="11870267" cy="696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C2FDD7-A8F0-B4ED-9132-E5F9C3C3A9EC}"/>
              </a:ext>
            </a:extLst>
          </p:cNvPr>
          <p:cNvSpPr txBox="1"/>
          <p:nvPr/>
        </p:nvSpPr>
        <p:spPr>
          <a:xfrm>
            <a:off x="2572774" y="890955"/>
            <a:ext cx="5621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34928B-E7F3-B60C-3E8C-B89C6A9A851A}"/>
              </a:ext>
            </a:extLst>
          </p:cNvPr>
          <p:cNvSpPr txBox="1"/>
          <p:nvPr/>
        </p:nvSpPr>
        <p:spPr>
          <a:xfrm>
            <a:off x="406399" y="1402673"/>
            <a:ext cx="11345333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et al. (2024) – Reviews deep reinforcement learning techniques for network intrusion detection and adaptive cyber threat identification.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Merzouk et al. (2024) – Studies security and adversarial robustness in deep reinforcement learning-based intrusion detection systems.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 et al. (2025) – Examines deep learning-based intrusion detection, including data processing, attack detection, and cybersecurity datasets.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Kanimozhi &amp; Ramesh (2025) – Proposes a deep reinforcement learning approach for intrusion detection and attack mitigation in software-defined networks.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Landolt et al. (2025) – Reviews multi-agent reinforcement learning approaches for adaptive and automated cyber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et al. (2026) – Provides an updated study of deep reinforcement learning for network intrusion detection and identifies current research challenges. </a:t>
            </a:r>
          </a:p>
        </p:txBody>
      </p:sp>
    </p:spTree>
    <p:extLst>
      <p:ext uri="{BB962C8B-B14F-4D97-AF65-F5344CB8AC3E}">
        <p14:creationId xmlns:p14="http://schemas.microsoft.com/office/powerpoint/2010/main" val="2630643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HD Images for PPT and Social Media | Minimalist thank you design,  Stick figure thank you card, Thank you card ideas">
            <a:extLst>
              <a:ext uri="{FF2B5EF4-FFF2-40B4-BE49-F238E27FC236}">
                <a16:creationId xmlns:a16="http://schemas.microsoft.com/office/drawing/2014/main" id="{6E4796F7-51AE-7BB1-B839-DB19F2A90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266" y="-25400"/>
            <a:ext cx="12251266" cy="6883400"/>
          </a:xfrm>
          <a:prstGeom prst="roundRect">
            <a:avLst>
              <a:gd name="adj" fmla="val 190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94747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107</TotalTime>
  <Words>1037</Words>
  <Application>Microsoft Office PowerPoint</Application>
  <PresentationFormat>Widescreen</PresentationFormat>
  <Paragraphs>155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Narasimha reddy</dc:creator>
  <cp:lastModifiedBy>vannetisunil19@gmail.com</cp:lastModifiedBy>
  <cp:revision>2</cp:revision>
  <dcterms:created xsi:type="dcterms:W3CDTF">2026-08-03T04:27:20Z</dcterms:created>
  <dcterms:modified xsi:type="dcterms:W3CDTF">2026-08-12T05:36:35Z</dcterms:modified>
</cp:coreProperties>
</file>